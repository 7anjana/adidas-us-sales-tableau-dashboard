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5" r:id="rId4"/>
    <p:sldId id="260" r:id="rId5"/>
    <p:sldId id="259" r:id="rId6"/>
    <p:sldId id="266" r:id="rId7"/>
    <p:sldId id="261" r:id="rId8"/>
    <p:sldId id="267" r:id="rId9"/>
    <p:sldId id="268" r:id="rId10"/>
    <p:sldId id="269" r:id="rId11"/>
    <p:sldId id="264" r:id="rId12"/>
  </p:sldIdLst>
  <p:sldSz cx="18288000" cy="10287000"/>
  <p:notesSz cx="6858000" cy="9144000"/>
  <p:embeddedFontLst>
    <p:embeddedFont>
      <p:font typeface="Bodoni MT Black" panose="02070A03080606020203" pitchFamily="18" charset="0"/>
      <p:bold r:id="rId14"/>
      <p:boldItalic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DM Sans" pitchFamily="2" charset="0"/>
      <p:regular r:id="rId20"/>
      <p:bold r:id="rId21"/>
      <p:italic r:id="rId22"/>
      <p:boldItalic r:id="rId23"/>
    </p:embeddedFont>
    <p:embeddedFont>
      <p:font typeface="DM Sans Bold" charset="0"/>
      <p:regular r:id="rId24"/>
    </p:embeddedFont>
    <p:embeddedFont>
      <p:font typeface="Georgia Pro Light" panose="02040302050405020303" pitchFamily="18" charset="0"/>
      <p:regular r:id="rId25"/>
      <p:italic r:id="rId26"/>
    </p:embeddedFont>
    <p:embeddedFont>
      <p:font typeface="Rockwell" panose="02060603020205020403" pitchFamily="18" charset="0"/>
      <p:regular r:id="rId27"/>
      <p:bold r:id="rId28"/>
      <p:italic r:id="rId29"/>
      <p:boldItalic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3" d="100"/>
          <a:sy n="63" d="100"/>
        </p:scale>
        <p:origin x="226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font" Target="fonts/font17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957652-C0B3-4CE3-910E-EA3A89A41128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EAC001-15CC-457C-9F7E-B6A646A277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7434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EAC001-15CC-457C-9F7E-B6A646A2775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9839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EAC001-15CC-457C-9F7E-B6A646A2775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09789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EAC001-15CC-457C-9F7E-B6A646A27757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64795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EAC001-15CC-457C-9F7E-B6A646A27757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24267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EAC001-15CC-457C-9F7E-B6A646A27757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86899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EAC001-15CC-457C-9F7E-B6A646A27757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86008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172200" cy="10287000"/>
            <a:chOff x="0" y="0"/>
            <a:chExt cx="1035548" cy="11847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35548" cy="1184737"/>
            </a:xfrm>
            <a:custGeom>
              <a:avLst/>
              <a:gdLst/>
              <a:ahLst/>
              <a:cxnLst/>
              <a:rect l="l" t="t" r="r" b="b"/>
              <a:pathLst>
                <a:path w="1035548" h="1184737">
                  <a:moveTo>
                    <a:pt x="0" y="0"/>
                  </a:moveTo>
                  <a:lnTo>
                    <a:pt x="1035548" y="0"/>
                  </a:lnTo>
                  <a:lnTo>
                    <a:pt x="1035548" y="1184737"/>
                  </a:lnTo>
                  <a:lnTo>
                    <a:pt x="0" y="1184737"/>
                  </a:lnTo>
                  <a:close/>
                </a:path>
              </a:pathLst>
            </a:custGeom>
            <a:blipFill>
              <a:blip r:embed="rId2"/>
              <a:stretch>
                <a:fillRect t="-597" b="-597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0734675" y="1712119"/>
            <a:ext cx="6886575" cy="2241575"/>
            <a:chOff x="0" y="200025"/>
            <a:chExt cx="9182100" cy="2988766"/>
          </a:xfrm>
        </p:grpSpPr>
        <p:sp>
          <p:nvSpPr>
            <p:cNvPr id="8" name="TextBox 8"/>
            <p:cNvSpPr txBox="1"/>
            <p:nvPr/>
          </p:nvSpPr>
          <p:spPr>
            <a:xfrm>
              <a:off x="0" y="200025"/>
              <a:ext cx="9182100" cy="18263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499"/>
                </a:lnSpc>
              </a:pPr>
              <a:endParaRPr lang="en-US" sz="10499" dirty="0">
                <a:solidFill>
                  <a:srgbClr val="1D1C24"/>
                </a:solidFill>
                <a:latin typeface="Georgia Pro Light"/>
                <a:ea typeface="Georgia Pro Light"/>
                <a:cs typeface="Georgia Pro Light"/>
                <a:sym typeface="Georgia Pro Light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2371815"/>
              <a:ext cx="9172671" cy="8169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039"/>
                </a:lnSpc>
              </a:pPr>
              <a:endParaRPr lang="en-US" sz="3599" dirty="0">
                <a:solidFill>
                  <a:srgbClr val="1D1C24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792200" y="9105900"/>
            <a:ext cx="2695575" cy="694945"/>
            <a:chOff x="0" y="-47625"/>
            <a:chExt cx="7658100" cy="1624173"/>
          </a:xfrm>
        </p:grpSpPr>
        <p:sp>
          <p:nvSpPr>
            <p:cNvPr id="11" name="TextBox 11"/>
            <p:cNvSpPr txBox="1"/>
            <p:nvPr/>
          </p:nvSpPr>
          <p:spPr>
            <a:xfrm>
              <a:off x="0" y="691343"/>
              <a:ext cx="7658100" cy="8852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80"/>
                </a:lnSpc>
                <a:spcBef>
                  <a:spcPct val="0"/>
                </a:spcBef>
              </a:pPr>
              <a:r>
                <a:rPr lang="en-US" sz="2200" dirty="0">
                  <a:solidFill>
                    <a:srgbClr val="1D1C24"/>
                  </a:solidFill>
                  <a:latin typeface="DM Sans"/>
                  <a:ea typeface="DM Sans"/>
                  <a:cs typeface="DM Sans"/>
                  <a:sym typeface="DM Sans"/>
                </a:rPr>
                <a:t>ANJANA SABU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76581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b="1" dirty="0">
                  <a:solidFill>
                    <a:srgbClr val="1D1C2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PRESENTED BY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A7322656-52C0-B7CD-0E28-4A9ACD367C85}"/>
              </a:ext>
            </a:extLst>
          </p:cNvPr>
          <p:cNvSpPr txBox="1"/>
          <p:nvPr/>
        </p:nvSpPr>
        <p:spPr>
          <a:xfrm>
            <a:off x="6629400" y="1104900"/>
            <a:ext cx="113538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/>
              <a:t>   ADIDAS US SALES</a:t>
            </a:r>
          </a:p>
          <a:p>
            <a:r>
              <a:rPr lang="en-US" sz="8000" b="1" dirty="0"/>
              <a:t>          ANALYSIS </a:t>
            </a:r>
          </a:p>
          <a:p>
            <a:r>
              <a:rPr lang="en-US" sz="8000" b="1" dirty="0"/>
              <a:t>        DASHBOARD </a:t>
            </a:r>
            <a:endParaRPr lang="en-IN" sz="8000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C13126-49D0-EB21-DB8C-BE0749E2AB4B}"/>
              </a:ext>
            </a:extLst>
          </p:cNvPr>
          <p:cNvSpPr/>
          <p:nvPr/>
        </p:nvSpPr>
        <p:spPr>
          <a:xfrm>
            <a:off x="16764000" y="0"/>
            <a:ext cx="1524000" cy="10287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59702B5-5D6C-D52B-5A53-EB4C3D6381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5788" y="4555969"/>
            <a:ext cx="2177314" cy="155522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C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202697" y="0"/>
            <a:ext cx="4085303" cy="102870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3"/>
              <a:stretch>
                <a:fillRect t="-205" b="-20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85800" y="800100"/>
            <a:ext cx="12573000" cy="1418270"/>
            <a:chOff x="0" y="631266"/>
            <a:chExt cx="11099800" cy="1891026"/>
          </a:xfrm>
        </p:grpSpPr>
        <p:sp>
          <p:nvSpPr>
            <p:cNvPr id="5" name="TextBox 5"/>
            <p:cNvSpPr txBox="1"/>
            <p:nvPr/>
          </p:nvSpPr>
          <p:spPr>
            <a:xfrm>
              <a:off x="0" y="631266"/>
              <a:ext cx="11099800" cy="13753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8800"/>
                </a:lnSpc>
              </a:pPr>
              <a:r>
                <a:rPr lang="en-US" sz="4800" u="sng" dirty="0">
                  <a:solidFill>
                    <a:srgbClr val="F1F1F1"/>
                  </a:solidFill>
                  <a:latin typeface="Rockwell" panose="02060603020205020403" pitchFamily="18" charset="0"/>
                  <a:ea typeface="Georgia Pro Light"/>
                  <a:cs typeface="Georgia Pro Light"/>
                  <a:sym typeface="Georgia Pro Light"/>
                </a:rPr>
                <a:t>INTRODUCTION</a:t>
              </a:r>
              <a:r>
                <a:rPr lang="en-US" sz="5400" u="sng" dirty="0">
                  <a:solidFill>
                    <a:srgbClr val="F1F1F1"/>
                  </a:solidFill>
                  <a:latin typeface="Rockwell" panose="02060603020205020403" pitchFamily="18" charset="0"/>
                  <a:ea typeface="Georgia Pro Light"/>
                  <a:cs typeface="Georgia Pro Light"/>
                  <a:sym typeface="Georgia Pro Light"/>
                </a:rPr>
                <a:t>  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047803"/>
              <a:ext cx="11099800" cy="4744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endParaRPr lang="en-US" sz="2100" dirty="0">
                <a:solidFill>
                  <a:srgbClr val="F1F1F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84B924E-F4DC-A3A9-54CD-1BE5A6561214}"/>
              </a:ext>
            </a:extLst>
          </p:cNvPr>
          <p:cNvSpPr txBox="1"/>
          <p:nvPr/>
        </p:nvSpPr>
        <p:spPr>
          <a:xfrm>
            <a:off x="3810000" y="6210300"/>
            <a:ext cx="9144000" cy="504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>
              <a:lnSpc>
                <a:spcPts val="3640"/>
              </a:lnSpc>
              <a:spcBef>
                <a:spcPct val="0"/>
              </a:spcBef>
            </a:pPr>
            <a:r>
              <a:rPr lang="en-US" sz="1800" b="1" dirty="0">
                <a:solidFill>
                  <a:srgbClr val="1D1C24"/>
                </a:solidFill>
                <a:latin typeface="DM Sans Bold"/>
                <a:ea typeface="DM Sans Bold"/>
                <a:cs typeface="DM Sans Bold"/>
                <a:sym typeface="DM Sans Bold"/>
              </a:rPr>
              <a:t>PRESENTED BY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98FF7C-FCF3-AA4C-0EE6-0E606CC85039}"/>
              </a:ext>
            </a:extLst>
          </p:cNvPr>
          <p:cNvSpPr txBox="1"/>
          <p:nvPr/>
        </p:nvSpPr>
        <p:spPr>
          <a:xfrm>
            <a:off x="685800" y="2705100"/>
            <a:ext cx="128778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• The Adidas US Sales dataset provides insights into product categories, pricing, ratings, reviews, and availability.</a:t>
            </a:r>
          </a:p>
          <a:p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</a:rPr>
              <a:t>• It enables analysis of customer engagement, product popularity, and market preferences.</a:t>
            </a:r>
          </a:p>
          <a:p>
            <a:br>
              <a:rPr lang="en-US" sz="3200" dirty="0">
                <a:solidFill>
                  <a:schemeClr val="bg1"/>
                </a:solidFill>
              </a:rPr>
            </a:br>
            <a:r>
              <a:rPr lang="en-US" sz="3200" dirty="0">
                <a:solidFill>
                  <a:schemeClr val="bg1"/>
                </a:solidFill>
              </a:rPr>
              <a:t>• The dataset supports identification of best-performing categories, target audience segments, and color trends.</a:t>
            </a:r>
          </a:p>
          <a:p>
            <a:br>
              <a:rPr lang="en-US" sz="3200" dirty="0">
                <a:solidFill>
                  <a:schemeClr val="bg1"/>
                </a:solidFill>
              </a:rPr>
            </a:br>
            <a:r>
              <a:rPr lang="en-US" sz="3200" dirty="0">
                <a:solidFill>
                  <a:schemeClr val="bg1"/>
                </a:solidFill>
              </a:rPr>
              <a:t>• This dashboard helps in understanding product performance and strategic business decision-making.</a:t>
            </a:r>
            <a:endParaRPr lang="en-IN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C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-228600" y="723900"/>
            <a:ext cx="17907000" cy="1834569"/>
            <a:chOff x="-807258" y="76201"/>
            <a:chExt cx="15808806" cy="2446091"/>
          </a:xfrm>
        </p:grpSpPr>
        <p:sp>
          <p:nvSpPr>
            <p:cNvPr id="5" name="TextBox 5"/>
            <p:cNvSpPr txBox="1"/>
            <p:nvPr/>
          </p:nvSpPr>
          <p:spPr>
            <a:xfrm>
              <a:off x="-807258" y="76201"/>
              <a:ext cx="15808806" cy="132019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8800"/>
                </a:lnSpc>
              </a:pPr>
              <a:r>
                <a:rPr lang="en-US" sz="4800" u="sng" dirty="0">
                  <a:solidFill>
                    <a:srgbClr val="F1F1F1"/>
                  </a:solidFill>
                  <a:latin typeface="Rockwell" panose="02060603020205020403" pitchFamily="18" charset="0"/>
                  <a:ea typeface="Georgia Pro Light"/>
                  <a:cs typeface="Georgia Pro Light"/>
                  <a:sym typeface="Georgia Pro Light"/>
                </a:rPr>
                <a:t>OBJECTIVES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047803"/>
              <a:ext cx="11099800" cy="4744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endParaRPr lang="en-US" sz="2100" dirty="0">
                <a:solidFill>
                  <a:srgbClr val="F1F1F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84B924E-F4DC-A3A9-54CD-1BE5A6561214}"/>
              </a:ext>
            </a:extLst>
          </p:cNvPr>
          <p:cNvSpPr txBox="1"/>
          <p:nvPr/>
        </p:nvSpPr>
        <p:spPr>
          <a:xfrm>
            <a:off x="3810000" y="6210300"/>
            <a:ext cx="9144000" cy="504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>
              <a:lnSpc>
                <a:spcPts val="3640"/>
              </a:lnSpc>
              <a:spcBef>
                <a:spcPct val="0"/>
              </a:spcBef>
            </a:pPr>
            <a:r>
              <a:rPr lang="en-US" sz="1800" b="1" dirty="0">
                <a:solidFill>
                  <a:srgbClr val="1D1C24"/>
                </a:solidFill>
                <a:latin typeface="DM Sans Bold"/>
                <a:ea typeface="DM Sans Bold"/>
                <a:cs typeface="DM Sans Bold"/>
                <a:sym typeface="DM Sans Bold"/>
              </a:rPr>
              <a:t>PRESENTED BY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90D33D-254C-2BC7-4669-B67B17F9619A}"/>
              </a:ext>
            </a:extLst>
          </p:cNvPr>
          <p:cNvSpPr txBox="1"/>
          <p:nvPr/>
        </p:nvSpPr>
        <p:spPr>
          <a:xfrm>
            <a:off x="1447800" y="2476500"/>
            <a:ext cx="164592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• Analyze overall product portfolio and key performance metrics.</a:t>
            </a:r>
          </a:p>
          <a:p>
            <a:br>
              <a:rPr lang="en-US" sz="3200" dirty="0">
                <a:solidFill>
                  <a:schemeClr val="bg1"/>
                </a:solidFill>
              </a:rPr>
            </a:br>
            <a:r>
              <a:rPr lang="en-US" sz="3200" dirty="0">
                <a:solidFill>
                  <a:schemeClr val="bg1"/>
                </a:solidFill>
              </a:rPr>
              <a:t>• Identify dominant product categories and target audience segments.</a:t>
            </a:r>
          </a:p>
          <a:p>
            <a:br>
              <a:rPr lang="en-US" sz="3200" dirty="0">
                <a:solidFill>
                  <a:schemeClr val="bg1"/>
                </a:solidFill>
              </a:rPr>
            </a:br>
            <a:r>
              <a:rPr lang="en-US" sz="3200" dirty="0">
                <a:solidFill>
                  <a:schemeClr val="bg1"/>
                </a:solidFill>
              </a:rPr>
              <a:t>• Examine customer engagement through ratings and reviews.</a:t>
            </a:r>
          </a:p>
          <a:p>
            <a:br>
              <a:rPr lang="en-US" sz="3200" dirty="0">
                <a:solidFill>
                  <a:schemeClr val="bg1"/>
                </a:solidFill>
              </a:rPr>
            </a:br>
            <a:r>
              <a:rPr lang="en-US" sz="3200" dirty="0">
                <a:solidFill>
                  <a:schemeClr val="bg1"/>
                </a:solidFill>
              </a:rPr>
              <a:t>• Study pricing distribution and mid-tier performance.</a:t>
            </a:r>
          </a:p>
          <a:p>
            <a:br>
              <a:rPr lang="en-US" sz="3200" dirty="0">
                <a:solidFill>
                  <a:schemeClr val="bg1"/>
                </a:solidFill>
              </a:rPr>
            </a:br>
            <a:r>
              <a:rPr lang="en-US" sz="3200" dirty="0">
                <a:solidFill>
                  <a:schemeClr val="bg1"/>
                </a:solidFill>
              </a:rPr>
              <a:t>• Provide strategic recommendations for inventory and marketing.</a:t>
            </a:r>
            <a:endParaRPr lang="en-IN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9990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C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0"/>
            <a:ext cx="7553325" cy="102870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716756"/>
            <a:ext cx="8324850" cy="4070563"/>
            <a:chOff x="0" y="66675"/>
            <a:chExt cx="11099800" cy="5427417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15046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endParaRPr lang="en-US" sz="8000" dirty="0">
                <a:solidFill>
                  <a:srgbClr val="F1F1F1"/>
                </a:solidFill>
                <a:latin typeface="Georgia Pro Light"/>
                <a:ea typeface="Georgia Pro Light"/>
                <a:cs typeface="Georgia Pro Light"/>
                <a:sym typeface="Georgia Pro Light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5019603"/>
              <a:ext cx="11099800" cy="4744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endParaRPr lang="en-US" sz="2100" dirty="0">
                <a:solidFill>
                  <a:srgbClr val="F1F1F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F788DF1-60F8-F5A3-26F8-09408A238DBD}"/>
              </a:ext>
            </a:extLst>
          </p:cNvPr>
          <p:cNvSpPr txBox="1"/>
          <p:nvPr/>
        </p:nvSpPr>
        <p:spPr>
          <a:xfrm>
            <a:off x="1295400" y="0"/>
            <a:ext cx="9144000" cy="333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>
              <a:lnSpc>
                <a:spcPts val="8800"/>
              </a:lnSpc>
            </a:pPr>
            <a:endParaRPr lang="en-US" sz="5400" u="sng" dirty="0">
              <a:solidFill>
                <a:srgbClr val="F1F1F1"/>
              </a:solidFill>
              <a:latin typeface="Rockwell" panose="02060603020205020403" pitchFamily="18" charset="0"/>
              <a:ea typeface="Georgia Pro Light"/>
              <a:cs typeface="Georgia Pro Light"/>
              <a:sym typeface="Georgia Pro Light"/>
            </a:endParaRPr>
          </a:p>
          <a:p>
            <a:pPr marL="0" lvl="0" indent="0" algn="ctr">
              <a:lnSpc>
                <a:spcPts val="8800"/>
              </a:lnSpc>
            </a:pPr>
            <a:r>
              <a:rPr lang="en-US" sz="4800" u="sng" dirty="0">
                <a:solidFill>
                  <a:srgbClr val="F1F1F1"/>
                </a:solidFill>
                <a:latin typeface="Rockwell" panose="02060603020205020403" pitchFamily="18" charset="0"/>
                <a:ea typeface="Georgia Pro Light"/>
                <a:cs typeface="Georgia Pro Light"/>
                <a:sym typeface="Georgia Pro Light"/>
              </a:rPr>
              <a:t>DATASET</a:t>
            </a:r>
          </a:p>
          <a:p>
            <a:pPr marL="0" lvl="0" indent="0" algn="ctr">
              <a:lnSpc>
                <a:spcPts val="8800"/>
              </a:lnSpc>
            </a:pPr>
            <a:endParaRPr lang="en-US" sz="4800" u="sng" dirty="0">
              <a:solidFill>
                <a:srgbClr val="F1F1F1"/>
              </a:solidFill>
              <a:latin typeface="Rockwell" panose="02060603020205020403" pitchFamily="18" charset="0"/>
              <a:ea typeface="Georgia Pro Light"/>
              <a:cs typeface="Georgia Pro Light"/>
              <a:sym typeface="Georgia Pro Ligh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74DC06-3526-700D-DDEF-6B7230034FFC}"/>
              </a:ext>
            </a:extLst>
          </p:cNvPr>
          <p:cNvSpPr txBox="1"/>
          <p:nvPr/>
        </p:nvSpPr>
        <p:spPr>
          <a:xfrm>
            <a:off x="1371294" y="2165776"/>
            <a:ext cx="12877800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3200" dirty="0">
              <a:solidFill>
                <a:schemeClr val="bg1"/>
              </a:solidFill>
              <a:latin typeface="Rockwell" panose="02060603020205020403" pitchFamily="18" charset="0"/>
            </a:endParaRPr>
          </a:p>
          <a:p>
            <a:endParaRPr lang="en-US" sz="3200" dirty="0">
              <a:solidFill>
                <a:schemeClr val="bg1"/>
              </a:solidFill>
              <a:latin typeface="Rockwell" panose="02060603020205020403" pitchFamily="18" charset="0"/>
            </a:endParaRPr>
          </a:p>
          <a:p>
            <a:r>
              <a:rPr lang="en-US" sz="3200" dirty="0">
                <a:solidFill>
                  <a:schemeClr val="bg1"/>
                </a:solidFill>
                <a:latin typeface="Rockwell" panose="02060603020205020403" pitchFamily="18" charset="0"/>
              </a:rPr>
              <a:t>• Retail Product Sales Dataset – Adidas US</a:t>
            </a:r>
          </a:p>
          <a:p>
            <a:br>
              <a:rPr lang="en-US" sz="3200" dirty="0">
                <a:solidFill>
                  <a:schemeClr val="bg1"/>
                </a:solidFill>
                <a:latin typeface="Rockwell" panose="02060603020205020403" pitchFamily="18" charset="0"/>
              </a:rPr>
            </a:br>
            <a:r>
              <a:rPr lang="en-US" sz="3200" dirty="0">
                <a:solidFill>
                  <a:schemeClr val="bg1"/>
                </a:solidFill>
                <a:latin typeface="Rockwell" panose="02060603020205020403" pitchFamily="18" charset="0"/>
              </a:rPr>
              <a:t>• Total Products: 845</a:t>
            </a:r>
          </a:p>
          <a:p>
            <a:endParaRPr lang="en-US" sz="3200" dirty="0">
              <a:solidFill>
                <a:schemeClr val="bg1"/>
              </a:solidFill>
              <a:latin typeface="Rockwell" panose="02060603020205020403" pitchFamily="18" charset="0"/>
            </a:endParaRPr>
          </a:p>
          <a:p>
            <a:r>
              <a:rPr lang="en-US" sz="3200" dirty="0">
                <a:solidFill>
                  <a:schemeClr val="bg1"/>
                </a:solidFill>
                <a:latin typeface="Rockwell" panose="02060603020205020403" pitchFamily="18" charset="0"/>
              </a:rPr>
              <a:t>•</a:t>
            </a:r>
            <a:r>
              <a:rPr lang="en-US" sz="3200">
                <a:solidFill>
                  <a:schemeClr val="bg1"/>
                </a:solidFill>
                <a:latin typeface="Rockwell" panose="02060603020205020403" pitchFamily="18" charset="0"/>
              </a:rPr>
              <a:t>Total columns: 21</a:t>
            </a:r>
          </a:p>
          <a:p>
            <a:br>
              <a:rPr lang="en-US" sz="3200" dirty="0">
                <a:solidFill>
                  <a:schemeClr val="bg1"/>
                </a:solidFill>
                <a:latin typeface="Rockwell" panose="02060603020205020403" pitchFamily="18" charset="0"/>
              </a:rPr>
            </a:br>
            <a:r>
              <a:rPr lang="en-US" sz="3200" dirty="0">
                <a:solidFill>
                  <a:schemeClr val="bg1"/>
                </a:solidFill>
                <a:latin typeface="Rockwell" panose="02060603020205020403" pitchFamily="18" charset="0"/>
              </a:rPr>
              <a:t>• Includes: Category, Price, Rating, Review Count,</a:t>
            </a:r>
          </a:p>
          <a:p>
            <a:r>
              <a:rPr lang="en-US" sz="3200" dirty="0">
                <a:solidFill>
                  <a:schemeClr val="bg1"/>
                </a:solidFill>
                <a:latin typeface="Rockwell" panose="02060603020205020403" pitchFamily="18" charset="0"/>
              </a:rPr>
              <a:t> Color, Availability</a:t>
            </a:r>
          </a:p>
          <a:p>
            <a:br>
              <a:rPr lang="en-US" sz="3200" dirty="0">
                <a:solidFill>
                  <a:schemeClr val="bg1"/>
                </a:solidFill>
                <a:latin typeface="Rockwell" panose="02060603020205020403" pitchFamily="18" charset="0"/>
              </a:rPr>
            </a:br>
            <a:r>
              <a:rPr lang="en-US" sz="3200" dirty="0">
                <a:solidFill>
                  <a:schemeClr val="bg1"/>
                </a:solidFill>
                <a:latin typeface="Rockwell" panose="02060603020205020403" pitchFamily="18" charset="0"/>
              </a:rPr>
              <a:t>• Structured for interactive dashboard analysis</a:t>
            </a:r>
          </a:p>
          <a:p>
            <a:endParaRPr lang="en-IN" sz="3200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3A1A7E1-131E-0411-1EE9-2F91BBD930C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7" t="15394" r="1667" b="8309"/>
          <a:stretch/>
        </p:blipFill>
        <p:spPr>
          <a:xfrm>
            <a:off x="2458" y="952500"/>
            <a:ext cx="17678400" cy="97535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6AFA278-33F6-9326-D13D-08E3CF679F3E}"/>
              </a:ext>
            </a:extLst>
          </p:cNvPr>
          <p:cNvSpPr txBox="1"/>
          <p:nvPr/>
        </p:nvSpPr>
        <p:spPr>
          <a:xfrm>
            <a:off x="6400800" y="-38100"/>
            <a:ext cx="4876800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u="sng" dirty="0">
                <a:solidFill>
                  <a:srgbClr val="F1F1F1"/>
                </a:solidFill>
                <a:latin typeface="Rockwell" panose="02060603020205020403" pitchFamily="18" charset="0"/>
                <a:ea typeface="Georgia Pro Light"/>
                <a:cs typeface="Georgia Pro Light"/>
                <a:sym typeface="Georgia Pro Light"/>
              </a:rPr>
              <a:t>DATASET</a:t>
            </a:r>
          </a:p>
          <a:p>
            <a:r>
              <a:rPr lang="en-IN" sz="4400" u="sng" dirty="0">
                <a:latin typeface="Rockwell" panose="02060603020205020403" pitchFamily="18" charset="0"/>
              </a:rPr>
              <a:t>DATASET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C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-1143000" y="-639067"/>
            <a:ext cx="18821400" cy="3197536"/>
            <a:chOff x="-1614516" y="-404060"/>
            <a:chExt cx="16616064" cy="2926352"/>
          </a:xfrm>
        </p:grpSpPr>
        <p:sp>
          <p:nvSpPr>
            <p:cNvPr id="5" name="TextBox 5"/>
            <p:cNvSpPr txBox="1"/>
            <p:nvPr/>
          </p:nvSpPr>
          <p:spPr>
            <a:xfrm>
              <a:off x="-1614516" y="-404060"/>
              <a:ext cx="16616064" cy="193897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8800"/>
                </a:lnSpc>
              </a:pPr>
              <a:endParaRPr lang="en-US" sz="4800" u="sng" dirty="0">
                <a:solidFill>
                  <a:srgbClr val="F1F1F1"/>
                </a:solidFill>
                <a:latin typeface="Rockwell" panose="02060603020205020403" pitchFamily="18" charset="0"/>
                <a:ea typeface="Georgia Pro Light"/>
                <a:cs typeface="Georgia Pro Light"/>
                <a:sym typeface="Georgia Pro Light"/>
              </a:endParaRPr>
            </a:p>
            <a:p>
              <a:pPr marL="0" lvl="0" indent="0" algn="ctr">
                <a:lnSpc>
                  <a:spcPts val="8800"/>
                </a:lnSpc>
              </a:pPr>
              <a:r>
                <a:rPr lang="en-US" sz="4800" u="sng" dirty="0">
                  <a:solidFill>
                    <a:srgbClr val="F1F1F1"/>
                  </a:solidFill>
                  <a:latin typeface="Rockwell" panose="02060603020205020403" pitchFamily="18" charset="0"/>
                  <a:ea typeface="Georgia Pro Light"/>
                  <a:cs typeface="Georgia Pro Light"/>
                  <a:sym typeface="Georgia Pro Light"/>
                </a:rPr>
                <a:t>CRITERIA USED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047803"/>
              <a:ext cx="11099800" cy="4744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endParaRPr lang="en-US" sz="2100" dirty="0">
                <a:solidFill>
                  <a:srgbClr val="F1F1F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84B924E-F4DC-A3A9-54CD-1BE5A6561214}"/>
              </a:ext>
            </a:extLst>
          </p:cNvPr>
          <p:cNvSpPr txBox="1"/>
          <p:nvPr/>
        </p:nvSpPr>
        <p:spPr>
          <a:xfrm>
            <a:off x="3810000" y="6210300"/>
            <a:ext cx="9144000" cy="504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>
              <a:lnSpc>
                <a:spcPts val="3640"/>
              </a:lnSpc>
              <a:spcBef>
                <a:spcPct val="0"/>
              </a:spcBef>
            </a:pPr>
            <a:r>
              <a:rPr lang="en-US" sz="1800" b="1" dirty="0">
                <a:solidFill>
                  <a:srgbClr val="1D1C24"/>
                </a:solidFill>
                <a:latin typeface="DM Sans Bold"/>
                <a:ea typeface="DM Sans Bold"/>
                <a:cs typeface="DM Sans Bold"/>
                <a:sym typeface="DM Sans Bold"/>
              </a:rPr>
              <a:t>PRESENTED BY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90D33D-254C-2BC7-4669-B67B17F9619A}"/>
              </a:ext>
            </a:extLst>
          </p:cNvPr>
          <p:cNvSpPr txBox="1"/>
          <p:nvPr/>
        </p:nvSpPr>
        <p:spPr>
          <a:xfrm>
            <a:off x="1066800" y="1638300"/>
            <a:ext cx="11734800" cy="8032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• Total Products – KPI Card</a:t>
            </a:r>
            <a:br>
              <a:rPr lang="en-IN" sz="2800" dirty="0">
                <a:solidFill>
                  <a:schemeClr val="bg1"/>
                </a:solidFill>
              </a:rPr>
            </a:br>
            <a:r>
              <a:rPr lang="en-IN" sz="2800" dirty="0">
                <a:solidFill>
                  <a:schemeClr val="bg1"/>
                </a:solidFill>
              </a:rPr>
              <a:t>• Total Reviews – KPI Card</a:t>
            </a:r>
            <a:br>
              <a:rPr lang="en-IN" sz="2800" dirty="0">
                <a:solidFill>
                  <a:schemeClr val="bg1"/>
                </a:solidFill>
              </a:rPr>
            </a:br>
            <a:r>
              <a:rPr lang="en-IN" sz="2800" dirty="0">
                <a:solidFill>
                  <a:schemeClr val="bg1"/>
                </a:solidFill>
              </a:rPr>
              <a:t>• Average Price – KPI Card</a:t>
            </a:r>
            <a:br>
              <a:rPr lang="en-IN" sz="2800" dirty="0">
                <a:solidFill>
                  <a:schemeClr val="bg1"/>
                </a:solidFill>
              </a:rPr>
            </a:br>
            <a:r>
              <a:rPr lang="en-IN" sz="2800" dirty="0">
                <a:solidFill>
                  <a:schemeClr val="bg1"/>
                </a:solidFill>
              </a:rPr>
              <a:t>• Average Rating – KPI Card</a:t>
            </a:r>
            <a:br>
              <a:rPr lang="en-IN" sz="2800" dirty="0">
                <a:solidFill>
                  <a:schemeClr val="bg1"/>
                </a:solidFill>
              </a:rPr>
            </a:br>
            <a:r>
              <a:rPr lang="en-IN" sz="2800" dirty="0">
                <a:solidFill>
                  <a:schemeClr val="bg1"/>
                </a:solidFill>
              </a:rPr>
              <a:t>• Category Distribution – Bar Chart</a:t>
            </a:r>
            <a:br>
              <a:rPr lang="en-IN" sz="2800" dirty="0">
                <a:solidFill>
                  <a:schemeClr val="bg1"/>
                </a:solidFill>
              </a:rPr>
            </a:br>
            <a:r>
              <a:rPr lang="en-IN" sz="2800" dirty="0">
                <a:solidFill>
                  <a:schemeClr val="bg1"/>
                </a:solidFill>
              </a:rPr>
              <a:t>• Target Audience Distribution – Donut Chart</a:t>
            </a:r>
            <a:br>
              <a:rPr lang="en-IN" sz="2800" dirty="0">
                <a:solidFill>
                  <a:schemeClr val="bg1"/>
                </a:solidFill>
              </a:rPr>
            </a:br>
            <a:r>
              <a:rPr lang="en-IN" sz="2800" dirty="0">
                <a:solidFill>
                  <a:schemeClr val="bg1"/>
                </a:solidFill>
              </a:rPr>
              <a:t>• </a:t>
            </a:r>
            <a:r>
              <a:rPr lang="en-IN" sz="2800" dirty="0" err="1">
                <a:solidFill>
                  <a:schemeClr val="bg1"/>
                </a:solidFill>
              </a:rPr>
              <a:t>Color</a:t>
            </a:r>
            <a:r>
              <a:rPr lang="en-IN" sz="2800" dirty="0">
                <a:solidFill>
                  <a:schemeClr val="bg1"/>
                </a:solidFill>
              </a:rPr>
              <a:t> Distribution – Horizontal Bar Chart</a:t>
            </a:r>
            <a:br>
              <a:rPr lang="en-IN" sz="2800" dirty="0">
                <a:solidFill>
                  <a:schemeClr val="bg1"/>
                </a:solidFill>
              </a:rPr>
            </a:br>
            <a:r>
              <a:rPr lang="en-IN" sz="2800" dirty="0">
                <a:solidFill>
                  <a:schemeClr val="bg1"/>
                </a:solidFill>
              </a:rPr>
              <a:t>• Price Distribution – Histogram</a:t>
            </a:r>
            <a:br>
              <a:rPr lang="en-IN" sz="2800" dirty="0">
                <a:solidFill>
                  <a:schemeClr val="bg1"/>
                </a:solidFill>
              </a:rPr>
            </a:br>
            <a:r>
              <a:rPr lang="en-IN" sz="2800" dirty="0">
                <a:solidFill>
                  <a:schemeClr val="bg1"/>
                </a:solidFill>
              </a:rPr>
              <a:t>• Availability Status – Pie Chart</a:t>
            </a:r>
            <a:br>
              <a:rPr lang="en-IN" sz="2800" dirty="0">
                <a:solidFill>
                  <a:schemeClr val="bg1"/>
                </a:solidFill>
              </a:rPr>
            </a:br>
            <a:r>
              <a:rPr lang="en-IN" sz="2800" dirty="0">
                <a:solidFill>
                  <a:schemeClr val="bg1"/>
                </a:solidFill>
              </a:rPr>
              <a:t>• Top Selling Products – Bubble Chart</a:t>
            </a:r>
            <a:br>
              <a:rPr lang="en-IN" sz="2800" dirty="0">
                <a:solidFill>
                  <a:schemeClr val="bg1"/>
                </a:solidFill>
              </a:rPr>
            </a:br>
            <a:r>
              <a:rPr lang="en-IN" sz="2800" dirty="0">
                <a:solidFill>
                  <a:schemeClr val="bg1"/>
                </a:solidFill>
              </a:rPr>
              <a:t>• Filters (Slicers): Category, </a:t>
            </a:r>
          </a:p>
          <a:p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</a:rPr>
              <a:t>Calculated Field-</a:t>
            </a:r>
          </a:p>
          <a:p>
            <a:r>
              <a:rPr lang="en-US" sz="2400" dirty="0">
                <a:solidFill>
                  <a:schemeClr val="bg1"/>
                </a:solidFill>
              </a:rPr>
              <a:t>Target audience:</a:t>
            </a:r>
          </a:p>
          <a:p>
            <a:r>
              <a:rPr lang="en-US" sz="2400" dirty="0">
                <a:solidFill>
                  <a:schemeClr val="bg1"/>
                </a:solidFill>
              </a:rPr>
              <a:t>IF CONTAINS([Products], "Women") THEN "Women"</a:t>
            </a:r>
          </a:p>
          <a:p>
            <a:r>
              <a:rPr lang="en-US" sz="2400" dirty="0">
                <a:solidFill>
                  <a:schemeClr val="bg1"/>
                </a:solidFill>
              </a:rPr>
              <a:t>ELSEIF CONTAINS([Products], "Men") THEN "Men"</a:t>
            </a:r>
          </a:p>
          <a:p>
            <a:r>
              <a:rPr lang="en-US" sz="2400" dirty="0">
                <a:solidFill>
                  <a:schemeClr val="bg1"/>
                </a:solidFill>
              </a:rPr>
              <a:t>ELSEIF CONTAINS([Products], "Kids") THEN "Kids"</a:t>
            </a:r>
          </a:p>
          <a:p>
            <a:r>
              <a:rPr lang="en-US" sz="2400" dirty="0">
                <a:solidFill>
                  <a:schemeClr val="bg1"/>
                </a:solidFill>
              </a:rPr>
              <a:t>ELSE "Unisex"</a:t>
            </a:r>
          </a:p>
          <a:p>
            <a:r>
              <a:rPr lang="en-US" sz="2400" dirty="0">
                <a:solidFill>
                  <a:schemeClr val="bg1"/>
                </a:solidFill>
              </a:rPr>
              <a:t>END</a:t>
            </a:r>
          </a:p>
        </p:txBody>
      </p:sp>
      <p:grpSp>
        <p:nvGrpSpPr>
          <p:cNvPr id="9" name="Group 2">
            <a:extLst>
              <a:ext uri="{FF2B5EF4-FFF2-40B4-BE49-F238E27FC236}">
                <a16:creationId xmlns:a16="http://schemas.microsoft.com/office/drawing/2014/main" id="{104B568D-1A0E-16F5-89BB-D8B8A650A3A9}"/>
              </a:ext>
            </a:extLst>
          </p:cNvPr>
          <p:cNvGrpSpPr/>
          <p:nvPr/>
        </p:nvGrpSpPr>
        <p:grpSpPr>
          <a:xfrm>
            <a:off x="13792200" y="0"/>
            <a:ext cx="4495800" cy="10287000"/>
            <a:chOff x="0" y="0"/>
            <a:chExt cx="1170208" cy="1593725"/>
          </a:xfrm>
        </p:grpSpPr>
        <p:sp>
          <p:nvSpPr>
            <p:cNvPr id="10" name="Freeform 3">
              <a:extLst>
                <a:ext uri="{FF2B5EF4-FFF2-40B4-BE49-F238E27FC236}">
                  <a16:creationId xmlns:a16="http://schemas.microsoft.com/office/drawing/2014/main" id="{CCE44C04-1D2B-CFCC-E43C-C12CB333DDD0}"/>
                </a:ext>
              </a:extLst>
            </p:cNvPr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3"/>
              <a:stretch>
                <a:fillRect t="-205" b="-205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262400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C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66750" y="716756"/>
            <a:ext cx="8324850" cy="4070563"/>
            <a:chOff x="0" y="66675"/>
            <a:chExt cx="11099800" cy="5427417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15046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endParaRPr lang="en-US" sz="8000" dirty="0">
                <a:solidFill>
                  <a:srgbClr val="F1F1F1"/>
                </a:solidFill>
                <a:latin typeface="Georgia Pro Light"/>
                <a:ea typeface="Georgia Pro Light"/>
                <a:cs typeface="Georgia Pro Light"/>
                <a:sym typeface="Georgia Pro Light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5019603"/>
              <a:ext cx="11099800" cy="4744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endParaRPr lang="en-US" sz="2100" dirty="0">
                <a:solidFill>
                  <a:srgbClr val="F1F1F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183AE50D-4668-CB5B-4E7E-668D55FFEDD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6" t="9999" r="848" b="8520"/>
          <a:stretch/>
        </p:blipFill>
        <p:spPr>
          <a:xfrm>
            <a:off x="495300" y="1485900"/>
            <a:ext cx="17297400" cy="8382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2D4EDC1-6C02-A3B1-BCED-E2FC8E58D547}"/>
              </a:ext>
            </a:extLst>
          </p:cNvPr>
          <p:cNvSpPr txBox="1"/>
          <p:nvPr/>
        </p:nvSpPr>
        <p:spPr>
          <a:xfrm>
            <a:off x="4829175" y="419100"/>
            <a:ext cx="74390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Rockwell" panose="02060603020205020403" pitchFamily="18" charset="0"/>
              </a:rPr>
              <a:t>            DASHBOARD</a:t>
            </a:r>
            <a:endParaRPr lang="en-IN" sz="4400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C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-228600" y="723900"/>
            <a:ext cx="17907000" cy="1834569"/>
            <a:chOff x="-807258" y="76201"/>
            <a:chExt cx="15808806" cy="2446091"/>
          </a:xfrm>
        </p:grpSpPr>
        <p:sp>
          <p:nvSpPr>
            <p:cNvPr id="5" name="TextBox 5"/>
            <p:cNvSpPr txBox="1"/>
            <p:nvPr/>
          </p:nvSpPr>
          <p:spPr>
            <a:xfrm>
              <a:off x="-807258" y="76201"/>
              <a:ext cx="15808806" cy="132019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8800"/>
                </a:lnSpc>
              </a:pPr>
              <a:r>
                <a:rPr lang="en-US" sz="4800" u="sng" dirty="0">
                  <a:solidFill>
                    <a:srgbClr val="F1F1F1"/>
                  </a:solidFill>
                  <a:latin typeface="Rockwell" panose="02060603020205020403" pitchFamily="18" charset="0"/>
                  <a:ea typeface="Georgia Pro Light"/>
                  <a:cs typeface="Georgia Pro Light"/>
                  <a:sym typeface="Georgia Pro Light"/>
                </a:rPr>
                <a:t>CONCLUSION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047803"/>
              <a:ext cx="11099800" cy="4744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endParaRPr lang="en-US" sz="2100" dirty="0">
                <a:solidFill>
                  <a:srgbClr val="F1F1F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84B924E-F4DC-A3A9-54CD-1BE5A6561214}"/>
              </a:ext>
            </a:extLst>
          </p:cNvPr>
          <p:cNvSpPr txBox="1"/>
          <p:nvPr/>
        </p:nvSpPr>
        <p:spPr>
          <a:xfrm>
            <a:off x="3810000" y="6210300"/>
            <a:ext cx="9144000" cy="504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>
              <a:lnSpc>
                <a:spcPts val="3640"/>
              </a:lnSpc>
              <a:spcBef>
                <a:spcPct val="0"/>
              </a:spcBef>
            </a:pPr>
            <a:r>
              <a:rPr lang="en-US" sz="1800" b="1" dirty="0">
                <a:solidFill>
                  <a:srgbClr val="1D1C24"/>
                </a:solidFill>
                <a:latin typeface="DM Sans Bold"/>
                <a:ea typeface="DM Sans Bold"/>
                <a:cs typeface="DM Sans Bold"/>
                <a:sym typeface="DM Sans Bold"/>
              </a:rPr>
              <a:t>PRESENTED BY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90D33D-254C-2BC7-4669-B67B17F9619A}"/>
              </a:ext>
            </a:extLst>
          </p:cNvPr>
          <p:cNvSpPr txBox="1"/>
          <p:nvPr/>
        </p:nvSpPr>
        <p:spPr>
          <a:xfrm>
            <a:off x="1447800" y="2476500"/>
            <a:ext cx="16459200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• Provides a complete view of Adidas US product performance</a:t>
            </a:r>
          </a:p>
          <a:p>
            <a:r>
              <a:rPr lang="en-US" sz="3200" dirty="0">
                <a:solidFill>
                  <a:schemeClr val="bg1"/>
                </a:solidFill>
              </a:rPr>
              <a:t>.</a:t>
            </a:r>
          </a:p>
          <a:p>
            <a:r>
              <a:rPr lang="en-US" sz="3200" dirty="0">
                <a:solidFill>
                  <a:schemeClr val="bg1"/>
                </a:solidFill>
              </a:rPr>
              <a:t>• Shoes and Women segments lead portfolio dominance.</a:t>
            </a:r>
          </a:p>
          <a:p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</a:rPr>
              <a:t>• White and Black drive strongest color preference.</a:t>
            </a:r>
          </a:p>
          <a:p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</a:rPr>
              <a:t>• Products concentrate in the mid-price range, supporting mass appeal.</a:t>
            </a:r>
          </a:p>
          <a:p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</a:rPr>
              <a:t>• 4.6+ average rating reflects strong customer satisfaction.</a:t>
            </a:r>
          </a:p>
          <a:p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</a:rPr>
              <a:t>• Review insights reveal high-engagement products and growth potential.</a:t>
            </a:r>
          </a:p>
          <a:p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</a:rPr>
              <a:t>• Enables data-driven decisions in inventory, pricing, and marketing.</a:t>
            </a:r>
          </a:p>
        </p:txBody>
      </p:sp>
    </p:spTree>
    <p:extLst>
      <p:ext uri="{BB962C8B-B14F-4D97-AF65-F5344CB8AC3E}">
        <p14:creationId xmlns:p14="http://schemas.microsoft.com/office/powerpoint/2010/main" val="3617758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C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-228600" y="723900"/>
            <a:ext cx="17907000" cy="1834569"/>
            <a:chOff x="-807258" y="76201"/>
            <a:chExt cx="15808806" cy="2446091"/>
          </a:xfrm>
        </p:grpSpPr>
        <p:sp>
          <p:nvSpPr>
            <p:cNvPr id="5" name="TextBox 5"/>
            <p:cNvSpPr txBox="1"/>
            <p:nvPr/>
          </p:nvSpPr>
          <p:spPr>
            <a:xfrm>
              <a:off x="-807258" y="76201"/>
              <a:ext cx="15808806" cy="132019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8800"/>
                </a:lnSpc>
              </a:pPr>
              <a:r>
                <a:rPr lang="en-US" sz="4800" u="sng" dirty="0">
                  <a:solidFill>
                    <a:srgbClr val="F1F1F1"/>
                  </a:solidFill>
                  <a:latin typeface="Rockwell" panose="02060603020205020403" pitchFamily="18" charset="0"/>
                  <a:ea typeface="Georgia Pro Light"/>
                  <a:cs typeface="Georgia Pro Light"/>
                  <a:sym typeface="Georgia Pro Light"/>
                </a:rPr>
                <a:t>RECOMMENDATION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047803"/>
              <a:ext cx="11099800" cy="4744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endParaRPr lang="en-US" sz="2100" dirty="0">
                <a:solidFill>
                  <a:srgbClr val="F1F1F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84B924E-F4DC-A3A9-54CD-1BE5A6561214}"/>
              </a:ext>
            </a:extLst>
          </p:cNvPr>
          <p:cNvSpPr txBox="1"/>
          <p:nvPr/>
        </p:nvSpPr>
        <p:spPr>
          <a:xfrm>
            <a:off x="3810000" y="6210300"/>
            <a:ext cx="9144000" cy="504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>
              <a:lnSpc>
                <a:spcPts val="3640"/>
              </a:lnSpc>
              <a:spcBef>
                <a:spcPct val="0"/>
              </a:spcBef>
            </a:pPr>
            <a:r>
              <a:rPr lang="en-US" sz="1800" b="1" dirty="0">
                <a:solidFill>
                  <a:srgbClr val="1D1C24"/>
                </a:solidFill>
                <a:latin typeface="DM Sans Bold"/>
                <a:ea typeface="DM Sans Bold"/>
                <a:cs typeface="DM Sans Bold"/>
                <a:sym typeface="DM Sans Bold"/>
              </a:rPr>
              <a:t>PRESENTED BY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90D33D-254C-2BC7-4669-B67B17F9619A}"/>
              </a:ext>
            </a:extLst>
          </p:cNvPr>
          <p:cNvSpPr txBox="1"/>
          <p:nvPr/>
        </p:nvSpPr>
        <p:spPr>
          <a:xfrm>
            <a:off x="1447800" y="2476500"/>
            <a:ext cx="164592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• Expand top-performing color variants.</a:t>
            </a:r>
          </a:p>
          <a:p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</a:rPr>
              <a:t>• Strengthen inventory control in Shoes &amp; Clothing.</a:t>
            </a:r>
          </a:p>
          <a:p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</a:rPr>
              <a:t>• Promote high-rated, low-visibility products.</a:t>
            </a:r>
          </a:p>
          <a:p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</a:rPr>
              <a:t>• Focus on competitive mid-tier pricing.</a:t>
            </a:r>
          </a:p>
          <a:p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</a:rPr>
              <a:t>• Leverage customer satisfaction for targeted marketing.</a:t>
            </a:r>
          </a:p>
        </p:txBody>
      </p:sp>
    </p:spTree>
    <p:extLst>
      <p:ext uri="{BB962C8B-B14F-4D97-AF65-F5344CB8AC3E}">
        <p14:creationId xmlns:p14="http://schemas.microsoft.com/office/powerpoint/2010/main" val="3552767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C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-228600" y="723900"/>
            <a:ext cx="15163799" cy="1834569"/>
            <a:chOff x="-807258" y="76201"/>
            <a:chExt cx="13387031" cy="2446091"/>
          </a:xfrm>
        </p:grpSpPr>
        <p:sp>
          <p:nvSpPr>
            <p:cNvPr id="5" name="TextBox 5"/>
            <p:cNvSpPr txBox="1"/>
            <p:nvPr/>
          </p:nvSpPr>
          <p:spPr>
            <a:xfrm>
              <a:off x="-807258" y="76201"/>
              <a:ext cx="13387031" cy="132019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8800"/>
                </a:lnSpc>
              </a:pPr>
              <a:r>
                <a:rPr lang="en-US" sz="4800" u="sng" dirty="0">
                  <a:solidFill>
                    <a:srgbClr val="F1F1F1"/>
                  </a:solidFill>
                  <a:latin typeface="Rockwell" panose="02060603020205020403" pitchFamily="18" charset="0"/>
                  <a:ea typeface="Georgia Pro Light"/>
                  <a:cs typeface="Georgia Pro Light"/>
                  <a:sym typeface="Georgia Pro Light"/>
                </a:rPr>
                <a:t>REFERENCE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047803"/>
              <a:ext cx="11099800" cy="4744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endParaRPr lang="en-US" sz="2100" dirty="0">
                <a:solidFill>
                  <a:srgbClr val="F1F1F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84B924E-F4DC-A3A9-54CD-1BE5A6561214}"/>
              </a:ext>
            </a:extLst>
          </p:cNvPr>
          <p:cNvSpPr txBox="1"/>
          <p:nvPr/>
        </p:nvSpPr>
        <p:spPr>
          <a:xfrm>
            <a:off x="3810000" y="6210300"/>
            <a:ext cx="9144000" cy="504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>
              <a:lnSpc>
                <a:spcPts val="3640"/>
              </a:lnSpc>
              <a:spcBef>
                <a:spcPct val="0"/>
              </a:spcBef>
            </a:pPr>
            <a:r>
              <a:rPr lang="en-US" sz="1800" b="1" dirty="0">
                <a:solidFill>
                  <a:srgbClr val="1D1C24"/>
                </a:solidFill>
                <a:latin typeface="DM Sans Bold"/>
                <a:ea typeface="DM Sans Bold"/>
                <a:cs typeface="DM Sans Bold"/>
                <a:sym typeface="DM Sans Bold"/>
              </a:rPr>
              <a:t>PRESENTED BY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90D33D-254C-2BC7-4669-B67B17F9619A}"/>
              </a:ext>
            </a:extLst>
          </p:cNvPr>
          <p:cNvSpPr txBox="1"/>
          <p:nvPr/>
        </p:nvSpPr>
        <p:spPr>
          <a:xfrm>
            <a:off x="1676400" y="2476500"/>
            <a:ext cx="16230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• Adidas US Sales Dataset -Kaggle</a:t>
            </a:r>
            <a:br>
              <a:rPr lang="en-US" sz="3200" dirty="0">
                <a:solidFill>
                  <a:schemeClr val="bg1"/>
                </a:solidFill>
              </a:rPr>
            </a:br>
            <a:r>
              <a:rPr lang="en-US" sz="3200" dirty="0">
                <a:solidFill>
                  <a:schemeClr val="bg1"/>
                </a:solidFill>
              </a:rPr>
              <a:t>• Tableau Public</a:t>
            </a:r>
          </a:p>
        </p:txBody>
      </p:sp>
      <p:grpSp>
        <p:nvGrpSpPr>
          <p:cNvPr id="9" name="Group 2">
            <a:extLst>
              <a:ext uri="{FF2B5EF4-FFF2-40B4-BE49-F238E27FC236}">
                <a16:creationId xmlns:a16="http://schemas.microsoft.com/office/drawing/2014/main" id="{1DB44068-4645-DD08-0669-CBA7F65A3D8B}"/>
              </a:ext>
            </a:extLst>
          </p:cNvPr>
          <p:cNvGrpSpPr/>
          <p:nvPr/>
        </p:nvGrpSpPr>
        <p:grpSpPr>
          <a:xfrm>
            <a:off x="11811000" y="0"/>
            <a:ext cx="6477000" cy="10287000"/>
            <a:chOff x="0" y="0"/>
            <a:chExt cx="1170208" cy="1593725"/>
          </a:xfrm>
        </p:grpSpPr>
        <p:sp>
          <p:nvSpPr>
            <p:cNvPr id="10" name="Freeform 3">
              <a:extLst>
                <a:ext uri="{FF2B5EF4-FFF2-40B4-BE49-F238E27FC236}">
                  <a16:creationId xmlns:a16="http://schemas.microsoft.com/office/drawing/2014/main" id="{FF612938-1C84-8986-1FCF-ED07EBFD513A}"/>
                </a:ext>
              </a:extLst>
            </p:cNvPr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3"/>
              <a:stretch>
                <a:fillRect t="-205" b="-205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1244647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0"/>
            <a:ext cx="7553325" cy="102870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A1EEBCAA-A0B2-A0BB-517F-666790350A2D}"/>
              </a:ext>
            </a:extLst>
          </p:cNvPr>
          <p:cNvSpPr txBox="1"/>
          <p:nvPr/>
        </p:nvSpPr>
        <p:spPr>
          <a:xfrm>
            <a:off x="1600200" y="1714500"/>
            <a:ext cx="85344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8000" dirty="0">
              <a:latin typeface="Bodoni MT Black" panose="02070A03080606020203" pitchFamily="18" charset="0"/>
            </a:endParaRPr>
          </a:p>
          <a:p>
            <a:endParaRPr lang="en-US" sz="8000" dirty="0">
              <a:latin typeface="Bodoni MT Black" panose="02070A03080606020203" pitchFamily="18" charset="0"/>
            </a:endParaRPr>
          </a:p>
          <a:p>
            <a:r>
              <a:rPr lang="en-US" sz="8000" dirty="0">
                <a:latin typeface="Bodoni MT Black" panose="02070A03080606020203" pitchFamily="18" charset="0"/>
              </a:rPr>
              <a:t>THANK YOU</a:t>
            </a:r>
            <a:endParaRPr lang="en-IN" sz="8000" dirty="0">
              <a:latin typeface="Bodoni MT Black" panose="02070A030806060202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451</Words>
  <Application>Microsoft Office PowerPoint</Application>
  <PresentationFormat>Custom</PresentationFormat>
  <Paragraphs>83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Bodoni MT Black</vt:lpstr>
      <vt:lpstr>Georgia Pro Light</vt:lpstr>
      <vt:lpstr>Rockwell</vt:lpstr>
      <vt:lpstr>Calibri</vt:lpstr>
      <vt:lpstr>DM Sans</vt:lpstr>
      <vt:lpstr>Arial</vt:lpstr>
      <vt:lpstr>DM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anjanasabu25@outlook.com</cp:lastModifiedBy>
  <cp:revision>5</cp:revision>
  <dcterms:created xsi:type="dcterms:W3CDTF">2006-08-16T00:00:00Z</dcterms:created>
  <dcterms:modified xsi:type="dcterms:W3CDTF">2026-03-09T15:29:39Z</dcterms:modified>
  <dc:identifier>DAHCDqZ3ABI</dc:identifier>
</cp:coreProperties>
</file>